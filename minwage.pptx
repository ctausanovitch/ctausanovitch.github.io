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75" r:id="rId7"/>
    <p:sldId id="261" r:id="rId8"/>
    <p:sldId id="265" r:id="rId9"/>
    <p:sldId id="263" r:id="rId10"/>
    <p:sldId id="267" r:id="rId11"/>
    <p:sldId id="274" r:id="rId12"/>
    <p:sldId id="264" r:id="rId13"/>
    <p:sldId id="266" r:id="rId14"/>
    <p:sldId id="268" r:id="rId15"/>
    <p:sldId id="262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5"/>
    <p:restoredTop sz="81520"/>
  </p:normalViewPr>
  <p:slideViewPr>
    <p:cSldViewPr snapToGrid="0">
      <p:cViewPr varScale="1">
        <p:scale>
          <a:sx n="86" d="100"/>
          <a:sy n="86" d="100"/>
        </p:scale>
        <p:origin x="18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38902-BE57-DF45-ABBB-3EE2676826E6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28BE9-E12E-BB44-AE34-F9AFE02FE1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685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Congruence = dominant paradigm</a:t>
            </a:r>
          </a:p>
          <a:p>
            <a:endParaRPr lang="en-US" dirty="0"/>
          </a:p>
          <a:p>
            <a:r>
              <a:rPr lang="en-US" dirty="0"/>
              <a:t>Makes sense</a:t>
            </a:r>
          </a:p>
          <a:p>
            <a:endParaRPr lang="en-US" dirty="0"/>
          </a:p>
          <a:p>
            <a:r>
              <a:rPr lang="en-US" dirty="0"/>
              <a:t>Literature is largely about explaining congruence -&gt; that’s what I was up to, when I started to think ”how much should we really expect?”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0598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should we expect congruence?</a:t>
            </a:r>
          </a:p>
          <a:p>
            <a:endParaRPr lang="en-US" dirty="0"/>
          </a:p>
          <a:p>
            <a:r>
              <a:rPr lang="en-US" dirty="0"/>
              <a:t>Policy is a continuum -&gt; e.g. healthcare</a:t>
            </a:r>
          </a:p>
          <a:p>
            <a:endParaRPr lang="en-US" dirty="0"/>
          </a:p>
          <a:p>
            <a:r>
              <a:rPr lang="en-US" dirty="0"/>
              <a:t>There are many levels of subsidizing healthcare; how insufficient is what we have?</a:t>
            </a:r>
          </a:p>
          <a:p>
            <a:endParaRPr lang="en-US" dirty="0"/>
          </a:p>
          <a:p>
            <a:r>
              <a:rPr lang="en-US" dirty="0"/>
              <a:t>Intensity of preferences is pretty fundamental to </a:t>
            </a:r>
            <a:r>
              <a:rPr lang="en-US" i="1" dirty="0"/>
              <a:t>explaining</a:t>
            </a:r>
            <a:r>
              <a:rPr lang="en-US" i="0" dirty="0"/>
              <a:t> rather than </a:t>
            </a:r>
            <a:r>
              <a:rPr lang="en-US" i="1" dirty="0"/>
              <a:t>assessing </a:t>
            </a:r>
            <a:r>
              <a:rPr lang="en-US" i="0" dirty="0"/>
              <a:t>policy outcomes</a:t>
            </a:r>
          </a:p>
          <a:p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2429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Great case of a continuous policy that people understand (we hope)</a:t>
            </a:r>
          </a:p>
          <a:p>
            <a:endParaRPr lang="en-US" dirty="0"/>
          </a:p>
          <a:p>
            <a:r>
              <a:rPr lang="en-US" dirty="0"/>
              <a:t>Public opinion vs. city policy</a:t>
            </a:r>
          </a:p>
          <a:p>
            <a:endParaRPr lang="en-US" dirty="0"/>
          </a:p>
          <a:p>
            <a:r>
              <a:rPr lang="en-US" dirty="0"/>
              <a:t>City policy does not match public opinion. Why?</a:t>
            </a:r>
          </a:p>
          <a:p>
            <a:endParaRPr lang="en-US" dirty="0"/>
          </a:p>
          <a:p>
            <a:r>
              <a:rPr lang="en-US" dirty="0"/>
              <a:t>All the ones that have not changed the minimum wage are preempted! But what about the cities that have gone too high or too low?</a:t>
            </a:r>
          </a:p>
          <a:p>
            <a:endParaRPr lang="en-US" dirty="0"/>
          </a:p>
          <a:p>
            <a:r>
              <a:rPr lang="en-US" dirty="0"/>
              <a:t>We need to know how much people care about exactly what the minimum wage is!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556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5207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let’s see what the results look like…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10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General elections are not the only ones that matter…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35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cities in the US are dominated by Democrats</a:t>
            </a:r>
          </a:p>
          <a:p>
            <a:endParaRPr lang="en-US" dirty="0"/>
          </a:p>
          <a:p>
            <a:r>
              <a:rPr lang="en-US" dirty="0"/>
              <a:t>Now we have an explanation for incongruence on this issue in cities. But so far we’ve been grouping together people with very different preferences.</a:t>
            </a:r>
          </a:p>
          <a:p>
            <a:r>
              <a:rPr lang="en-US" dirty="0"/>
              <a:t>This doesn’t tell us how people with different preferences are responding (a better measure of intensity!).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05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every group cares most about the area around the status quo and is pretty indifferent when it comes to high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789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just useful as </a:t>
            </a:r>
            <a:r>
              <a:rPr lang="en-US" i="1" dirty="0"/>
              <a:t>measure</a:t>
            </a:r>
            <a:r>
              <a:rPr lang="en-US" i="0" dirty="0"/>
              <a:t> of representation but as </a:t>
            </a:r>
            <a:r>
              <a:rPr lang="en-US" i="0"/>
              <a:t>an </a:t>
            </a:r>
            <a:r>
              <a:rPr lang="en-US" i="1"/>
              <a:t>explanation</a:t>
            </a:r>
            <a:r>
              <a:rPr lang="en-US" i="0"/>
              <a:t>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5549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28BE9-E12E-BB44-AE34-F9AFE02FE18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449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43794-3B35-34D3-8FD0-17185FC0E4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1C95BE-8DE9-8949-D880-63139FA8BF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0A0D1-E43F-E2AA-DDEF-AAC6BB333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96AFC-CCF5-197A-5073-E995877A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CA72A-9723-9F3C-1857-D207A47A1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85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0695-D797-32EF-BD37-66E1B03A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D3746-FEE1-5C6D-E95F-C2D110E3F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4D06F-21B5-A056-01F5-61B16D195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ECBC1-AA5C-8A9F-2B65-31A80D0DB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CC61B-A495-BF33-3108-A28DF5E53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71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83F1F-9C98-E67A-1B33-605D05A34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7CFB17-623A-6370-FC2B-1941F0CDC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7F2EBD-5C7B-4C88-A515-B52432F86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1D9E7-4364-1A85-C63E-1DC64E57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DFA1E-C67E-261F-F887-30BCDE30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D608F-270F-2919-9661-789F5D449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63D18-E20E-5102-CC2A-7A5B3760C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A272C0-F281-BE43-8A1B-7ABD079CAE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039D1C-BD9B-792A-4CFE-BE3BE8439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C1D38B-CDB8-0DFB-38FD-6DE9F2D96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504DAC-A4EE-B178-B7E9-905F7B05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871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368A0-E508-47FD-D7DD-F5A5D655A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C0039-CC35-3373-D070-3CD6ACA09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7AE5-0DF0-50FE-E59B-C1DD271E6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209887-8FB4-E34B-0565-856A3E9DA5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57223F-E332-F9DF-8B38-074FDD37DF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9ABBA4-E3CF-077F-D3F3-C774E34DC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ECE1D2-854C-C163-8738-B82CE4061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F99678-042B-BA94-F961-60CC58114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881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9BB4B-73DE-4E26-A1E6-CE98B8395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B211A-ADA8-5772-34BB-F57BD81D9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7566BE-A32E-6E06-1257-BCFEF5CAD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33A5BD-0918-5F6C-34A0-FC19C8586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59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939BFA-99AB-6781-9167-96C53FC06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41A6B2-5359-DCB6-9C94-F20890860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7B3A7-DA76-9F2F-A574-E323D35DE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224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021FE-4FBD-3095-167D-3D76A780D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03E98-C0A9-2429-7659-99B514B7F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5652B7-2C62-4BBF-D958-0DDE180F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70A63-DF26-C3A4-9365-CF32AF912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1C493-F1F2-F7EB-1E39-5CBA1649F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F77DB8-1DE7-658B-BD6A-831011D8B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90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8C8B6-7508-5388-3336-FA18DC391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1A36D3-FD2B-EC93-0DAC-FDA13A5AA4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071717-B983-D99A-072D-3F0047E5D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9DE01C-6B5A-E224-D692-1DACC4D29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7C4F23-7EC7-4E53-1F22-8CA161CF4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5E455-CC4C-0D6E-3D2F-ACFD1E2B5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05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6F47E-EAA0-6667-A5C1-F22DD27B6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A40E64-2370-997E-6AE4-BE7089D1A3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72D3C-6F8D-C5FC-4F1A-832A1EB96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872CF-FF34-BB41-9D97-A003F4D98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42622-5668-9C7A-D8BE-D0ED2E130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120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6A4A7C-A3F0-9BF3-9CDE-53A8ACB22D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17090-65C2-18A4-D714-C3252F425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22FA1-E7BB-1213-6519-8D505C186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D6C01F-332E-2E72-BC19-3A335C3A9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DB116-1153-B747-95F4-026F0F396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531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9AC0DE-0A8A-3B89-8629-74C8A76FF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76385-C738-024A-9E05-D1F5FBD515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4016-5AF3-29D1-6B90-62B903239E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95CAB-CBAB-3C4C-8806-F3495A96540C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BAFFE-A00E-68B2-E728-F34E3A59A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BD0A4-3331-4178-C117-987B1CADA1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DC8DB-65B6-AD49-9A31-5148E33DB7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9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B2EB-5613-1D2F-EDF5-F1F8965802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Representation on Continuous Policies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DB49B7-BC8E-8ADA-506A-C113CA4814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Chris </a:t>
            </a:r>
            <a:r>
              <a:rPr lang="en-US" dirty="0" err="1"/>
              <a:t>Tausanovitch</a:t>
            </a:r>
            <a:endParaRPr lang="en-US" dirty="0"/>
          </a:p>
          <a:p>
            <a:r>
              <a:rPr lang="en-US" dirty="0"/>
              <a:t>Connor </a:t>
            </a:r>
            <a:r>
              <a:rPr lang="en-US" dirty="0" err="1"/>
              <a:t>Warshauer</a:t>
            </a:r>
            <a:endParaRPr lang="en-US" dirty="0"/>
          </a:p>
          <a:p>
            <a:endParaRPr lang="en-US" dirty="0"/>
          </a:p>
          <a:p>
            <a:r>
              <a:rPr lang="en-US" dirty="0"/>
              <a:t>University of California – Los Angeles</a:t>
            </a:r>
          </a:p>
        </p:txBody>
      </p:sp>
    </p:spTree>
    <p:extLst>
      <p:ext uri="{BB962C8B-B14F-4D97-AF65-F5344CB8AC3E}">
        <p14:creationId xmlns:p14="http://schemas.microsoft.com/office/powerpoint/2010/main" val="3818742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BA61F-6B56-4FC3-C67B-C7745B794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810" y="242959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Incongruence </a:t>
            </a:r>
            <a:br>
              <a:rPr lang="en-US" dirty="0"/>
            </a:br>
            <a:r>
              <a:rPr lang="en-US" dirty="0"/>
              <a:t>(Lax and Phillips </a:t>
            </a:r>
            <a:br>
              <a:rPr lang="en-US" dirty="0"/>
            </a:br>
            <a:r>
              <a:rPr lang="en-US" dirty="0"/>
              <a:t>2011)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“Democratic</a:t>
            </a:r>
            <a:br>
              <a:rPr lang="en-US" dirty="0"/>
            </a:br>
            <a:r>
              <a:rPr lang="en-US" dirty="0"/>
              <a:t>Deficit?”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D11869-3506-C114-AAAE-8978239EB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536" y="0"/>
            <a:ext cx="5916654" cy="684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4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B79DC-84C1-A15F-920A-CEECB4142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40% a lot of incongruence? (</a:t>
            </a:r>
            <a:r>
              <a:rPr lang="en-US" dirty="0" err="1"/>
              <a:t>Warshaw</a:t>
            </a:r>
            <a:r>
              <a:rPr lang="en-US" dirty="0"/>
              <a:t> and </a:t>
            </a:r>
            <a:r>
              <a:rPr lang="en-US" dirty="0" err="1"/>
              <a:t>Caughey</a:t>
            </a:r>
            <a:r>
              <a:rPr lang="en-US" dirty="0"/>
              <a:t> 2021)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21090-8225-1E95-AD62-9693FF766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Policy is a continuum -&gt; this is a function of how we draw the lines</a:t>
            </a:r>
          </a:p>
          <a:p>
            <a:endParaRPr lang="en-US" dirty="0"/>
          </a:p>
          <a:p>
            <a:r>
              <a:rPr lang="en-US" dirty="0"/>
              <a:t>Do people consider policy “very” incongruent?</a:t>
            </a:r>
          </a:p>
          <a:p>
            <a:endParaRPr lang="en-US" dirty="0"/>
          </a:p>
          <a:p>
            <a:r>
              <a:rPr lang="en-US" dirty="0"/>
              <a:t>More importantly: is the difference between public opinion and policy enough to change votes/behavior?</a:t>
            </a:r>
          </a:p>
          <a:p>
            <a:pPr lvl="2"/>
            <a:r>
              <a:rPr lang="en-US" i="1" dirty="0"/>
              <a:t>Even if </a:t>
            </a:r>
            <a:r>
              <a:rPr lang="en-US" dirty="0"/>
              <a:t>we assume complete knowledge, faith in the political system, </a:t>
            </a:r>
            <a:r>
              <a:rPr lang="en-US" dirty="0" err="1"/>
              <a:t>etc</a:t>
            </a:r>
            <a:r>
              <a:rPr lang="en-US" dirty="0"/>
              <a:t>?</a:t>
            </a:r>
          </a:p>
          <a:p>
            <a:pPr lvl="2"/>
            <a:endParaRPr lang="en-US" i="1" dirty="0"/>
          </a:p>
          <a:p>
            <a:r>
              <a:rPr lang="en-US" dirty="0"/>
              <a:t>Need a good case study policy</a:t>
            </a:r>
          </a:p>
        </p:txBody>
      </p:sp>
    </p:spTree>
    <p:extLst>
      <p:ext uri="{BB962C8B-B14F-4D97-AF65-F5344CB8AC3E}">
        <p14:creationId xmlns:p14="http://schemas.microsoft.com/office/powerpoint/2010/main" val="203861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7654A-4E37-6757-43BF-7FEA641D0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956" y="1618890"/>
            <a:ext cx="10515600" cy="2708013"/>
          </a:xfrm>
        </p:spPr>
        <p:txBody>
          <a:bodyPr>
            <a:normAutofit/>
          </a:bodyPr>
          <a:lstStyle/>
          <a:p>
            <a:r>
              <a:rPr lang="en-US" dirty="0"/>
              <a:t>The Minimum Wage 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Simonovits</a:t>
            </a:r>
            <a:r>
              <a:rPr lang="en-US" dirty="0"/>
              <a:t> and </a:t>
            </a:r>
            <a:br>
              <a:rPr lang="en-US" dirty="0"/>
            </a:br>
            <a:r>
              <a:rPr lang="en-US" dirty="0"/>
              <a:t>Payson 2023)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9D9F75-D6AB-5B47-2C85-A69F70418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572" y="619125"/>
            <a:ext cx="664596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185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50C2BDB-C9F3-D795-4880-8F3AA4F2D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52396"/>
            <a:ext cx="7772400" cy="478888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9FC99BC-2C77-02B6-59B3-326C3131F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 choice experiment</a:t>
            </a:r>
          </a:p>
        </p:txBody>
      </p:sp>
      <p:sp>
        <p:nvSpPr>
          <p:cNvPr id="2" name="Frame 1">
            <a:extLst>
              <a:ext uri="{FF2B5EF4-FFF2-40B4-BE49-F238E27FC236}">
                <a16:creationId xmlns:a16="http://schemas.microsoft.com/office/drawing/2014/main" id="{F28F9BE5-4F6E-85FC-5CB9-4B2860B8BCEF}"/>
              </a:ext>
            </a:extLst>
          </p:cNvPr>
          <p:cNvSpPr/>
          <p:nvPr/>
        </p:nvSpPr>
        <p:spPr>
          <a:xfrm>
            <a:off x="2209800" y="3612630"/>
            <a:ext cx="7608757" cy="85443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42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304D4-AC1D-98CA-5032-B2CAFD69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Marginal Component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9F692-6A48-1EFC-F1F2-AE823C0DE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 linear regression with errors clustered by respondent</a:t>
            </a:r>
          </a:p>
          <a:p>
            <a:endParaRPr lang="en-US" dirty="0"/>
          </a:p>
          <a:p>
            <a:r>
              <a:rPr lang="en-US" dirty="0"/>
              <a:t>DV: 1 if respondent chooses Set A, 0 if B</a:t>
            </a:r>
          </a:p>
          <a:p>
            <a:endParaRPr lang="en-US" dirty="0"/>
          </a:p>
          <a:p>
            <a:r>
              <a:rPr lang="en-US" dirty="0"/>
              <a:t>IVs for each attribute: </a:t>
            </a:r>
          </a:p>
          <a:p>
            <a:pPr lvl="1"/>
            <a:r>
              <a:rPr lang="en-US" dirty="0"/>
              <a:t>1 if Set A includes the affirmative version</a:t>
            </a:r>
          </a:p>
          <a:p>
            <a:pPr lvl="1"/>
            <a:r>
              <a:rPr lang="en-US" dirty="0"/>
              <a:t>-1 if Set A includes the negative version</a:t>
            </a:r>
          </a:p>
          <a:p>
            <a:pPr lvl="1"/>
            <a:r>
              <a:rPr lang="en-US" dirty="0"/>
              <a:t>0 otherwise</a:t>
            </a:r>
          </a:p>
        </p:txBody>
      </p:sp>
    </p:spTree>
    <p:extLst>
      <p:ext uri="{BB962C8B-B14F-4D97-AF65-F5344CB8AC3E}">
        <p14:creationId xmlns:p14="http://schemas.microsoft.com/office/powerpoint/2010/main" val="3897859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B65C1-D4AD-6F97-532F-FEBE5781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703C35-3C96-E4BA-569C-CAE58F404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490872"/>
            <a:ext cx="7772400" cy="587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7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22FF-B4A4-F1D5-718A-64C82AA57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62D9F4-B07A-CE69-98FE-0BD651216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600075"/>
            <a:ext cx="7772400" cy="565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045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AC3B-3FFB-892D-AE56-3E78CFAAF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566E24-EFC8-CC7E-627C-628E5C400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172" y="260380"/>
            <a:ext cx="10825655" cy="633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263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31E1-7C30-5106-C3A0-1F7ECF17E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B3FA1-6F19-9192-2CDD-14A4B0986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United States, people are close-to-indifferent over large ranges of potential values for the minimum wage</a:t>
            </a:r>
          </a:p>
          <a:p>
            <a:endParaRPr lang="en-US" dirty="0"/>
          </a:p>
          <a:p>
            <a:r>
              <a:rPr lang="en-US" dirty="0"/>
              <a:t>Incongruence does not necessarily imply that people are very dissatisfied with policy</a:t>
            </a:r>
          </a:p>
          <a:p>
            <a:endParaRPr lang="en-US" dirty="0"/>
          </a:p>
          <a:p>
            <a:r>
              <a:rPr lang="en-US" dirty="0"/>
              <a:t>Understanding the intensity of preferences in a continuous policy space is fundamental to understanding electoral incentives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6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02F0C-E348-FB58-E1A5-11F8AAE8A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F2955-F8AA-A2B6-60FA-A789683F3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530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CBC7C4-B814-0562-180D-4888C37DE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061" y="1000382"/>
            <a:ext cx="5661878" cy="563689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272C00A3-5039-C327-70AC-AB9CB71A8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856"/>
            <a:ext cx="10515600" cy="1325563"/>
          </a:xfrm>
        </p:spPr>
        <p:txBody>
          <a:bodyPr/>
          <a:lstStyle/>
          <a:p>
            <a:r>
              <a:rPr lang="en-US" dirty="0"/>
              <a:t>The Minimum Wage</a:t>
            </a:r>
          </a:p>
        </p:txBody>
      </p:sp>
    </p:spTree>
    <p:extLst>
      <p:ext uri="{BB962C8B-B14F-4D97-AF65-F5344CB8AC3E}">
        <p14:creationId xmlns:p14="http://schemas.microsoft.com/office/powerpoint/2010/main" val="14455547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3938F-B6B1-DF50-7892-8BA7146AB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DF5E3F-A136-D1A1-7769-9FEA9BD69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429" y="288577"/>
            <a:ext cx="8909221" cy="620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389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AD71B-871A-1AD0-F978-90B3AF686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8DFE1-A9AB-84AB-5DF7-B8AA48DB6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99693"/>
            <a:ext cx="7772400" cy="625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729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42C3EB-EA19-8807-9D50-1E61205D1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44714"/>
            <a:ext cx="7772400" cy="616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310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9DE972D-01F4-9A7D-763B-878953D6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401" y="0"/>
            <a:ext cx="59571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54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1443E-B416-6D3C-2E50-4160FD117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EC734-79C9-7B35-B69A-BA14B87CF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384195"/>
            <a:ext cx="7772400" cy="408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3907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41B40-83F8-325D-14ED-AAEDD1386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AEA65C-8CC4-BDF7-0486-D20AD77EEF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70186"/>
            <a:ext cx="7772400" cy="5717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360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C3C3-49BA-1283-553A-48F96A98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A2A64-8ACF-36A4-7831-8A1F48229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B2CD5-3789-404B-9C5E-652C91C75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278" y="1298302"/>
            <a:ext cx="9055443" cy="542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82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487</Words>
  <Application>Microsoft Macintosh PowerPoint</Application>
  <PresentationFormat>Widescreen</PresentationFormat>
  <Paragraphs>74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Representation on Continuous Policies</vt:lpstr>
      <vt:lpstr>Incongruence  (Lax and Phillips  2011)  A “Democratic Deficit?”</vt:lpstr>
      <vt:lpstr>Is 40% a lot of incongruence? (Warshaw and Caughey 2021)</vt:lpstr>
      <vt:lpstr>The Minimum Wage  (Simonovits and  Payson 2023)</vt:lpstr>
      <vt:lpstr>A choice experiment</vt:lpstr>
      <vt:lpstr>Average Marginal Component Effect</vt:lpstr>
      <vt:lpstr>PowerPoint Presentation</vt:lpstr>
      <vt:lpstr>PowerPoint Presentation</vt:lpstr>
      <vt:lpstr>PowerPoint Presentation</vt:lpstr>
      <vt:lpstr>Conclusion</vt:lpstr>
      <vt:lpstr>PowerPoint Presentation</vt:lpstr>
      <vt:lpstr>The Minimum Wage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Representation on Continuous Policies</dc:title>
  <dc:creator>Chris Tausanovitch</dc:creator>
  <cp:lastModifiedBy>Chris Tausanovitch</cp:lastModifiedBy>
  <cp:revision>16</cp:revision>
  <dcterms:created xsi:type="dcterms:W3CDTF">2025-11-14T23:57:27Z</dcterms:created>
  <dcterms:modified xsi:type="dcterms:W3CDTF">2025-11-21T12:48:21Z</dcterms:modified>
</cp:coreProperties>
</file>