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62" r:id="rId3"/>
    <p:sldId id="257" r:id="rId4"/>
    <p:sldId id="258" r:id="rId5"/>
    <p:sldId id="259" r:id="rId6"/>
    <p:sldId id="263" r:id="rId7"/>
    <p:sldId id="268" r:id="rId8"/>
    <p:sldId id="281" r:id="rId9"/>
    <p:sldId id="264" r:id="rId10"/>
    <p:sldId id="265" r:id="rId11"/>
    <p:sldId id="284" r:id="rId12"/>
    <p:sldId id="266" r:id="rId13"/>
    <p:sldId id="267" r:id="rId14"/>
    <p:sldId id="283" r:id="rId15"/>
    <p:sldId id="270" r:id="rId16"/>
    <p:sldId id="269" r:id="rId17"/>
    <p:sldId id="285" r:id="rId18"/>
    <p:sldId id="286" r:id="rId19"/>
    <p:sldId id="271" r:id="rId20"/>
    <p:sldId id="279" r:id="rId21"/>
    <p:sldId id="287" r:id="rId22"/>
    <p:sldId id="272" r:id="rId23"/>
    <p:sldId id="273" r:id="rId24"/>
    <p:sldId id="274" r:id="rId25"/>
    <p:sldId id="275" r:id="rId26"/>
    <p:sldId id="277" r:id="rId27"/>
    <p:sldId id="276" r:id="rId28"/>
    <p:sldId id="288" r:id="rId29"/>
    <p:sldId id="280" r:id="rId30"/>
    <p:sldId id="282" r:id="rId31"/>
    <p:sldId id="289" r:id="rId32"/>
    <p:sldId id="290" r:id="rId33"/>
    <p:sldId id="260" r:id="rId34"/>
    <p:sldId id="292" r:id="rId35"/>
    <p:sldId id="293" r:id="rId36"/>
    <p:sldId id="294" r:id="rId37"/>
    <p:sldId id="295" r:id="rId38"/>
    <p:sldId id="278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762371-007E-E84D-9036-F8570C520563}">
          <p14:sldIdLst>
            <p14:sldId id="256"/>
            <p14:sldId id="262"/>
            <p14:sldId id="257"/>
            <p14:sldId id="258"/>
            <p14:sldId id="259"/>
            <p14:sldId id="263"/>
            <p14:sldId id="268"/>
            <p14:sldId id="281"/>
            <p14:sldId id="264"/>
            <p14:sldId id="265"/>
            <p14:sldId id="284"/>
            <p14:sldId id="266"/>
            <p14:sldId id="267"/>
            <p14:sldId id="283"/>
          </p14:sldIdLst>
        </p14:section>
        <p14:section name="Results" id="{A969AEE6-6480-C542-A512-43A57B63A11D}">
          <p14:sldIdLst>
            <p14:sldId id="270"/>
            <p14:sldId id="269"/>
            <p14:sldId id="285"/>
            <p14:sldId id="286"/>
            <p14:sldId id="271"/>
            <p14:sldId id="279"/>
            <p14:sldId id="287"/>
            <p14:sldId id="272"/>
            <p14:sldId id="273"/>
            <p14:sldId id="274"/>
            <p14:sldId id="275"/>
            <p14:sldId id="277"/>
            <p14:sldId id="276"/>
            <p14:sldId id="288"/>
          </p14:sldIdLst>
        </p14:section>
        <p14:section name="Conclusion" id="{BF9696B5-B58F-AE45-AF69-22FE658D9951}">
          <p14:sldIdLst>
            <p14:sldId id="280"/>
            <p14:sldId id="282"/>
          </p14:sldIdLst>
        </p14:section>
        <p14:section name="Secret Slides" id="{59F02FC8-E15B-EC49-AB78-DC138DFAA83D}">
          <p14:sldIdLst>
            <p14:sldId id="289"/>
            <p14:sldId id="290"/>
            <p14:sldId id="260"/>
            <p14:sldId id="292"/>
            <p14:sldId id="293"/>
            <p14:sldId id="294"/>
            <p14:sldId id="295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9"/>
    <p:restoredTop sz="94621"/>
  </p:normalViewPr>
  <p:slideViewPr>
    <p:cSldViewPr snapToGrid="0">
      <p:cViewPr varScale="1">
        <p:scale>
          <a:sx n="135" d="100"/>
          <a:sy n="135" d="100"/>
        </p:scale>
        <p:origin x="10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73B01-F169-1B46-B035-8527286962EB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0E23-587B-4841-AB9E-C23B72925B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3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0D0E23-587B-4841-AB9E-C23B72925B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178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24CD6-C3BB-02DF-22E6-93825F4A4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F4ADF4-5B7A-ACD0-A7A5-C4B2F8DBE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DC9C-7027-5F78-95F3-C216C7B61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5543F-3C0F-4D42-9DD9-E5F689BE0DBA}" type="datetime1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1E203-DC09-26AF-3F17-A158007E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7142E-10C2-C08F-C1CB-D3E738A4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30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E592-112F-32C5-3EB9-BEC3230B7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09255-7296-61D4-4932-4F9C5377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19BB4-DBD4-2405-11FB-4CD7985C1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A6003-0C22-8A40-91CA-05D6A61B8642}" type="datetime1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D6FB1-1D2C-47C4-C34E-F8C4D4F7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6C4C3-9EED-7202-9953-BCADF2F0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7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B7FE-7797-F924-2FCC-9CA3A6728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8D7E8-9533-7C29-BBE5-DB15AA7E4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8AFEE-2D84-6A0B-FC24-9CA32A0E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CA9A-B6D6-0240-AD22-661A19A509FF}" type="datetime1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8E2D0-BE0D-1990-C2D3-542A1110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319BB-4263-66BA-DA67-43982AD9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46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A62D5-85E4-87E1-554B-B9128D1C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B84A7-78A9-90FD-0465-0CF7CE9F1E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7F430-3F23-CD89-88E9-D58541BA0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3CA8A-C681-46F4-E9AC-3C5BB10CE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E60F9-C63E-AE43-9D23-EFBA8B7F2CBF}" type="datetime1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0C897-FBAF-5063-1EC8-FE29369E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E546C-16DC-31A1-4A52-B887D531C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4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2FA62-586B-D7F2-C556-BCCB9AFB1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BAA57-D8B2-B624-F210-87F1AFCC6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9C3D0B-3690-14A2-D350-AC7CE1E82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80283-A477-35D8-7A96-469C729E9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276E11-CB43-1112-66A5-2AFBA9C44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D1624-FD73-60C7-730F-D6513B750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FF75-A3FD-8948-BC66-4EBA8A42E60E}" type="datetime1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48DCD1-B932-BBC1-C693-CE8419F5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49880E-444D-FF2C-F34C-60EFE1F2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11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C7B4-7E96-4782-D5B0-D117811B0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BF16FA-DB1C-FB4F-E456-E7C2D036D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8606-7AFD-4C48-A081-E79165BC6D43}" type="datetime1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99DD4-7251-2990-DCAF-95EE7405A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F4866-96CC-EAE1-2624-F1AB8325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11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3495B-9F48-DFED-611A-EDF215C2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8014F-D28B-D149-B84C-939D5E5B6A5A}" type="datetime1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FC33B-1987-0748-F4A7-7CCA55B0F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76BF6-B205-6F55-C0A0-CDD2D5296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D4E10-8194-2F59-7605-454534660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C964F-1F8F-596A-2980-E9A72F05B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C964A-7A06-8DFC-7433-1DDC50FBB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7E7E6-B177-5225-E067-FAE5656E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61772-21A3-8543-992C-1C90E2E96281}" type="datetime1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A813F-B489-059D-09A1-46E45275F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F0A0D-42C3-FBA2-D950-EF5BB291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11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E198-806B-7145-541C-3A03745A1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81869-7C4F-9E57-299C-7CE13D14F5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65CBF-C713-470D-878D-FB34929DC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DC6DD-03DC-301F-F788-33DDBA29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56A8-4161-8D46-A915-B09BA083C5FC}" type="datetime1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0E817-06CB-1609-6F40-7ACA261A7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E6168-B289-1C3A-15A4-7F79629E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29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6E6EC-7CE6-EAE7-A785-D3302C68E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E4FE5-AAA8-B059-BD82-CB9E0A233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11C14-8082-5874-9D57-02A2CA6B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65699-B7BE-CA4D-A640-E0F7A333C55A}" type="datetime1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7F0BB-E98D-36AF-E18E-A5C663316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27225-F4E1-6BFA-A3E1-6B244D3E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2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19EE90-D2BB-E6DE-71ED-7C0A936A1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4F327-43AA-1F5D-4E8A-49BCC1DB4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7F959-BC2F-CD57-786F-FF94CA990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E311D-8C26-964F-BABB-F0852C633A7B}" type="datetime1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A6180-26DB-5B1A-68C2-765686E62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14CFA-F7E8-B8FB-9211-1B57AD673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8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0B0A68-D441-D2ED-66AA-1B6482C04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366A3-093B-A908-EAE7-6F4A8DDD2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62CC8-6FD4-C2CD-91F3-8C39C0C4D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E649F-5DF0-964E-992F-6488A29888F2}" type="datetime1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966E-DEC0-C4CA-DC35-C74D3D483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Representation on Continuous Policies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49C9F-A3A8-F7A1-E99F-EDC0E3963A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B6362-C068-F943-B293-CB5102539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7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316F-36FF-07C4-584E-1A5F90D90A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Representation on Continuous Policies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51029-4C77-ACCE-B351-E354FA9E41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Chris </a:t>
            </a:r>
            <a:r>
              <a:rPr lang="en-US" dirty="0" err="1"/>
              <a:t>Tausanovitch</a:t>
            </a:r>
            <a:r>
              <a:rPr lang="en-US" dirty="0"/>
              <a:t> and Connor </a:t>
            </a:r>
            <a:r>
              <a:rPr lang="en-US" dirty="0" err="1"/>
              <a:t>Warshauer</a:t>
            </a:r>
            <a:endParaRPr lang="en-US" dirty="0"/>
          </a:p>
          <a:p>
            <a:r>
              <a:rPr lang="en-US" dirty="0"/>
              <a:t>UCLA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6D833-067A-FD6F-27A3-8F97872C1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B2C8E-F16C-7841-D98B-94888BB08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70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EC5F8-A125-2DB6-606D-2BB4A6BC5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8984"/>
            <a:ext cx="10515600" cy="5657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Argument</a:t>
            </a:r>
          </a:p>
          <a:p>
            <a:pPr marL="0" indent="0">
              <a:buNone/>
            </a:pPr>
            <a:endParaRPr lang="en-US" sz="1200" dirty="0"/>
          </a:p>
          <a:p>
            <a:r>
              <a:rPr lang="en-US" dirty="0"/>
              <a:t>To understand representation, we need to consider policy in a continuous space</a:t>
            </a:r>
          </a:p>
          <a:p>
            <a:endParaRPr lang="en-US" dirty="0"/>
          </a:p>
          <a:p>
            <a:r>
              <a:rPr lang="en-US" dirty="0"/>
              <a:t>We also need to measure intensity over that space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3600" dirty="0"/>
              <a:t>Evidence</a:t>
            </a:r>
          </a:p>
          <a:p>
            <a:pPr marL="0" indent="0">
              <a:buNone/>
            </a:pPr>
            <a:endParaRPr lang="en-US" sz="1200" dirty="0"/>
          </a:p>
          <a:p>
            <a:r>
              <a:rPr lang="en-US" dirty="0"/>
              <a:t>I attempt this in the case of the minimum wage</a:t>
            </a:r>
          </a:p>
          <a:p>
            <a:endParaRPr lang="en-US" dirty="0"/>
          </a:p>
          <a:p>
            <a:r>
              <a:rPr lang="en-US" dirty="0"/>
              <a:t>My measures tell a different story than standard “congruence”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CC5155-C1BE-87BA-7BB7-2FB8FD348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65A1E-3B58-D8EB-A0C0-64E9CECCE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5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5BE9-6486-AD13-D27E-040527043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incongruence is pervasive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87236-D1C0-F188-8369-5E744DF12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Congruence = Policy aligns with public opinion majority</a:t>
            </a:r>
          </a:p>
          <a:p>
            <a:endParaRPr lang="en-US" dirty="0"/>
          </a:p>
          <a:p>
            <a:r>
              <a:rPr lang="en-US" dirty="0"/>
              <a:t>Policy in the states is congruent 60% of the time (</a:t>
            </a:r>
            <a:r>
              <a:rPr lang="en-US" dirty="0" err="1"/>
              <a:t>Caughey</a:t>
            </a:r>
            <a:r>
              <a:rPr lang="en-US" dirty="0"/>
              <a:t> and </a:t>
            </a:r>
            <a:r>
              <a:rPr lang="en-US" dirty="0" err="1"/>
              <a:t>Warshaw</a:t>
            </a:r>
            <a:r>
              <a:rPr lang="en-US" dirty="0"/>
              <a:t> 2022)</a:t>
            </a:r>
          </a:p>
          <a:p>
            <a:endParaRPr lang="en-US" dirty="0"/>
          </a:p>
          <a:p>
            <a:r>
              <a:rPr lang="en-US" dirty="0"/>
              <a:t>Lawmaking in Congress is congruent 55% of the time (</a:t>
            </a:r>
            <a:r>
              <a:rPr lang="en-US" dirty="0" err="1"/>
              <a:t>Ansolabehere</a:t>
            </a:r>
            <a:r>
              <a:rPr lang="en-US" dirty="0"/>
              <a:t> and </a:t>
            </a:r>
            <a:r>
              <a:rPr lang="en-US" dirty="0" err="1"/>
              <a:t>Kuriwaki</a:t>
            </a:r>
            <a:r>
              <a:rPr lang="en-US" dirty="0"/>
              <a:t> 2025)</a:t>
            </a:r>
          </a:p>
          <a:p>
            <a:pPr lvl="1"/>
            <a:r>
              <a:rPr lang="en-US" dirty="0"/>
              <a:t>Passes unpopular bills 38% of the time</a:t>
            </a:r>
          </a:p>
          <a:p>
            <a:pPr lvl="1"/>
            <a:r>
              <a:rPr lang="en-US" dirty="0"/>
              <a:t>Fails to pass popular bills 47% of the time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6FFAE5-9F72-7FA7-E004-8030F7C7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C860E-BA85-B370-54FF-2C4F37F5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67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2BE9F-FF70-AC93-604E-44AC96648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Measured congruence = almost always binary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8DCF5-1106-EDE8-7026-1809A4EF9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Either a state has parental consent requirements for abortion or they don’t.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99B96-4E0C-14D7-11BC-27091D1B4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627" y="2618217"/>
            <a:ext cx="3558746" cy="35587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C864DD-DD2C-6208-2330-0E5B21BB9042}"/>
              </a:ext>
            </a:extLst>
          </p:cNvPr>
          <p:cNvSpPr txBox="1"/>
          <p:nvPr/>
        </p:nvSpPr>
        <p:spPr>
          <a:xfrm>
            <a:off x="8329484" y="3999480"/>
            <a:ext cx="2570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Lax and Phillips (2012)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655469-DA53-C27A-EDE2-4272DCE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Representation on Continuous Policies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3EF3E-55E6-3049-5C82-C8CAB9BA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0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2501-C39B-04E5-FEB1-F54AB2772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policy is continuous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42F9E-7BB6-0486-6144-2B812F7DB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041" y="2518590"/>
            <a:ext cx="2299689" cy="228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74450F-6509-274A-0B48-003DCD23D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22" y="2518590"/>
            <a:ext cx="9424619" cy="2286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9E29EE-DF87-EEF3-B63B-8E2519060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550C8-E6D8-3F54-4D0E-F6B2210DD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7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4990F-6BD1-D078-DC23-C18F0032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 in continuous space is never perfect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1627B-EE06-75AB-B906-371D1452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7719"/>
            <a:ext cx="10515600" cy="40392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Continuous congruence = distance between policy and median preference</a:t>
            </a:r>
          </a:p>
          <a:p>
            <a:endParaRPr lang="en-US" dirty="0"/>
          </a:p>
          <a:p>
            <a:r>
              <a:rPr lang="en-US" dirty="0" err="1"/>
              <a:t>Simonovitz</a:t>
            </a:r>
            <a:r>
              <a:rPr lang="en-US" dirty="0"/>
              <a:t> and Payson (2023) find that state minimum wages are $2 less than voters prefer, on average</a:t>
            </a:r>
          </a:p>
          <a:p>
            <a:endParaRPr lang="en-US" dirty="0"/>
          </a:p>
          <a:p>
            <a:r>
              <a:rPr lang="en-US" dirty="0"/>
              <a:t>Is this a lot or a little?</a:t>
            </a:r>
          </a:p>
          <a:p>
            <a:endParaRPr lang="en-US" dirty="0"/>
          </a:p>
          <a:p>
            <a:r>
              <a:rPr lang="en-US" dirty="0"/>
              <a:t>Empirical question: what should we expect?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C1233-D21E-D021-DF8F-346EDE81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03240-6F4C-001B-5CFD-5167FCC1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7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2E0C8E-28AA-1078-D166-A2CEDA078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743" y="310131"/>
            <a:ext cx="5938513" cy="581262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67A4DA-D742-136E-46CD-BC7EDB2B8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F53896-875C-F5B6-CCE8-2B4E6D2B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68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227FC-F57D-595E-AC5B-E5345E966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457"/>
            <a:ext cx="10515600" cy="873757"/>
          </a:xfrm>
        </p:spPr>
        <p:txBody>
          <a:bodyPr>
            <a:normAutofit/>
          </a:bodyPr>
          <a:lstStyle/>
          <a:p>
            <a:r>
              <a:rPr lang="en-US" sz="3600" dirty="0"/>
              <a:t>City-level minimum wages (100 largest cities)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48F92B-DCF1-2774-7D2B-2889EE47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1FF04B-0D39-37AA-320C-7CCF97C66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3EF26D-EB71-FC1E-8297-9A1DF5D52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38882"/>
            <a:ext cx="7772400" cy="50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96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C4571-8455-EACA-7649-13031465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incongruence should we expect?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C12FC-CB08-BB43-43D5-D0BAA8D3B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simple two candidate spatial voting model: none</a:t>
            </a:r>
          </a:p>
          <a:p>
            <a:endParaRPr lang="en-US" dirty="0"/>
          </a:p>
          <a:p>
            <a:r>
              <a:rPr lang="en-US" i="1" dirty="0"/>
              <a:t>But</a:t>
            </a:r>
            <a:r>
              <a:rPr lang="en-US" dirty="0"/>
              <a:t> IF</a:t>
            </a:r>
          </a:p>
          <a:p>
            <a:pPr lvl="1"/>
            <a:r>
              <a:rPr lang="en-US" dirty="0"/>
              <a:t>There are aggregate shocks to relative preference for candidates</a:t>
            </a:r>
          </a:p>
          <a:p>
            <a:pPr lvl="1"/>
            <a:r>
              <a:rPr lang="en-US" dirty="0"/>
              <a:t>Candidates are office-motivated </a:t>
            </a:r>
            <a:r>
              <a:rPr lang="en-US" i="1" dirty="0"/>
              <a:t>and</a:t>
            </a:r>
            <a:r>
              <a:rPr lang="en-US" dirty="0"/>
              <a:t> policy-motivated</a:t>
            </a:r>
          </a:p>
          <a:p>
            <a:r>
              <a:rPr lang="en-US" dirty="0"/>
              <a:t>THEN</a:t>
            </a:r>
          </a:p>
          <a:p>
            <a:pPr lvl="1"/>
            <a:r>
              <a:rPr lang="en-US" dirty="0"/>
              <a:t>The extent of policy incongruence may depend on the intensity of voter preferences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18C0-6F6C-0C6B-68BE-A2FA98F7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765FA3-2AF3-6EFE-B859-96B8A295D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5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DFE5F-B5C1-3E47-D358-7D16965C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elasticity of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CB968-2376-698B-5ABC-6147A5DDA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Politicians need to know how their positions affect vote decisions</a:t>
            </a:r>
          </a:p>
          <a:p>
            <a:endParaRPr lang="en-US" dirty="0"/>
          </a:p>
          <a:p>
            <a:r>
              <a:rPr lang="en-US" dirty="0"/>
              <a:t>Measuring the elasticity of vote decisions:</a:t>
            </a:r>
          </a:p>
          <a:p>
            <a:pPr lvl="1"/>
            <a:r>
              <a:rPr lang="en-US" dirty="0"/>
              <a:t>We offer people bundles of policy positions that we vary experimentally</a:t>
            </a:r>
          </a:p>
          <a:p>
            <a:pPr lvl="1"/>
            <a:r>
              <a:rPr lang="en-US" dirty="0"/>
              <a:t>Estimate the effect of positions on choice</a:t>
            </a:r>
          </a:p>
          <a:p>
            <a:pPr lvl="1"/>
            <a:endParaRPr lang="en-US" dirty="0"/>
          </a:p>
          <a:p>
            <a:r>
              <a:rPr lang="en-US" dirty="0"/>
              <a:t>We include policy of current federal minimum wage ($7.25) and minimum wages varying from $0 to $30 in $1 increments.</a:t>
            </a:r>
          </a:p>
          <a:p>
            <a:endParaRPr lang="en-US" dirty="0"/>
          </a:p>
          <a:p>
            <a:r>
              <a:rPr lang="en-US" dirty="0"/>
              <a:t>Each respondent (N=1,050) reports their views on 10 binary issues + continuous minimum wage, and responds to 10 experiments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579C8-2EB5-30C2-BE1A-EC67EB07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0F9AD-BE62-767E-C4C2-0650A058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2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78279-73F9-7EE4-E892-767CF70A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For Measuring Elasticity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5E885-1B6A-4121-3788-0F7FFB354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Choice of one of two sets of policies, A or B</a:t>
            </a:r>
          </a:p>
          <a:p>
            <a:endParaRPr lang="en-US" dirty="0"/>
          </a:p>
          <a:p>
            <a:r>
              <a:rPr lang="en-US" dirty="0"/>
              <a:t>Four policies: Minimum wage plus 3 others randomly selected from list of 10, order randomized</a:t>
            </a:r>
          </a:p>
          <a:p>
            <a:endParaRPr lang="en-US" dirty="0"/>
          </a:p>
          <a:p>
            <a:r>
              <a:rPr lang="en-US" dirty="0"/>
              <a:t>For policies other than the minimum wage, affirmative version assigned to one set and negative version assigned to other</a:t>
            </a:r>
          </a:p>
          <a:p>
            <a:endParaRPr lang="en-US" dirty="0"/>
          </a:p>
          <a:p>
            <a:r>
              <a:rPr lang="en-US" dirty="0"/>
              <a:t>For minimum wage, $7.25 assigned to one set, $0 to $30 randomly chosen for the other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B9645-DC8A-1B7F-28A4-652BA2BB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8B31A-58ED-1A85-4F7D-44A815B0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9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4F835B-C47B-CF64-CA4A-F2485FE1A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52151"/>
            <a:ext cx="7772400" cy="455369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652169-9A4F-E6C0-BCAC-B015A7FA6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0C3DF-F9C1-E6FC-157D-624D7A2DA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37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70A1ED-112C-5D7F-DBF4-72AE17496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508" y="589322"/>
            <a:ext cx="9758984" cy="567935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1638D5D-867E-96F1-908B-423CE106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9CB6E5-020A-65F4-C4A3-B1E3DA4A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39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B8665-A1AF-7158-636C-708971EF0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Average Marginal Component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66BE3-54FB-BF08-EB3F-2BD3D8BD6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This is just the regression coefficient of a 1,0,-1 dummy variable on choice of Set A</a:t>
            </a:r>
          </a:p>
          <a:p>
            <a:endParaRPr lang="en-US" dirty="0"/>
          </a:p>
          <a:p>
            <a:r>
              <a:rPr lang="en-US" dirty="0"/>
              <a:t>1 = affirmative version of the policy appears in set A</a:t>
            </a:r>
          </a:p>
          <a:p>
            <a:pPr lvl="1"/>
            <a:r>
              <a:rPr lang="en-US" dirty="0"/>
              <a:t>For minimum wage, values ranging from $0 to $30</a:t>
            </a:r>
          </a:p>
          <a:p>
            <a:pPr lvl="1"/>
            <a:endParaRPr lang="en-US" dirty="0"/>
          </a:p>
          <a:p>
            <a:r>
              <a:rPr lang="en-US" dirty="0"/>
              <a:t>-1= negative version appears in set A</a:t>
            </a:r>
          </a:p>
          <a:p>
            <a:pPr lvl="1"/>
            <a:r>
              <a:rPr lang="en-US" dirty="0"/>
              <a:t>For minimum wage, $7.25</a:t>
            </a:r>
          </a:p>
          <a:p>
            <a:pPr lvl="1"/>
            <a:endParaRPr lang="en-US" dirty="0"/>
          </a:p>
          <a:p>
            <a:r>
              <a:rPr lang="en-US" dirty="0"/>
              <a:t>0 = policy does not appear in either set</a:t>
            </a:r>
          </a:p>
          <a:p>
            <a:pPr lvl="1"/>
            <a:r>
              <a:rPr lang="en-US" dirty="0"/>
              <a:t>For minimum wage, </a:t>
            </a:r>
            <a:r>
              <a:rPr lang="en-US" i="1" dirty="0"/>
              <a:t>that specific comparison</a:t>
            </a:r>
            <a:endParaRPr lang="en-US" dirty="0"/>
          </a:p>
          <a:p>
            <a:endParaRPr lang="en-US" dirty="0"/>
          </a:p>
          <a:p>
            <a:r>
              <a:rPr lang="en-US" dirty="0"/>
              <a:t>All effects estimated in one multiple regression, standard errors clustered by respondent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37EA22-3AF0-3F83-FBEA-C01AB3DB7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52164-7876-235A-2C3E-683DB027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5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D5231E-A469-FB26-162F-FF5891B7E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03471"/>
            <a:ext cx="7772400" cy="545105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E64CB9-6CF4-0885-E481-217B47E1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3ADAA6-7BB5-9093-3E0A-E4B5C9311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75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F9DC14-0E15-3ABC-3CE2-AF2C07527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6542"/>
            <a:ext cx="7772400" cy="58649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35DAD6-689A-6CDE-48DE-F44FFF658A94}"/>
              </a:ext>
            </a:extLst>
          </p:cNvPr>
          <p:cNvCxnSpPr>
            <a:cxnSpLocks/>
          </p:cNvCxnSpPr>
          <p:nvPr/>
        </p:nvCxnSpPr>
        <p:spPr>
          <a:xfrm>
            <a:off x="4522573" y="889686"/>
            <a:ext cx="0" cy="4905633"/>
          </a:xfrm>
          <a:prstGeom prst="line">
            <a:avLst/>
          </a:prstGeom>
          <a:ln w="3810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5CFE68CE-B527-E1AA-EFBE-C13DB4528EE6}"/>
              </a:ext>
            </a:extLst>
          </p:cNvPr>
          <p:cNvSpPr/>
          <p:nvPr/>
        </p:nvSpPr>
        <p:spPr>
          <a:xfrm>
            <a:off x="1778794" y="1507525"/>
            <a:ext cx="2286579" cy="2557847"/>
          </a:xfrm>
          <a:prstGeom prst="leftBrace">
            <a:avLst/>
          </a:prstGeom>
          <a:ln w="317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9074BD-00C5-93F7-F124-899F852C9748}"/>
              </a:ext>
            </a:extLst>
          </p:cNvPr>
          <p:cNvCxnSpPr>
            <a:cxnSpLocks/>
          </p:cNvCxnSpPr>
          <p:nvPr/>
        </p:nvCxnSpPr>
        <p:spPr>
          <a:xfrm>
            <a:off x="4065373" y="1507525"/>
            <a:ext cx="729048" cy="0"/>
          </a:xfrm>
          <a:prstGeom prst="line">
            <a:avLst/>
          </a:prstGeom>
          <a:ln w="317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eft Brace 11">
            <a:extLst>
              <a:ext uri="{FF2B5EF4-FFF2-40B4-BE49-F238E27FC236}">
                <a16:creationId xmlns:a16="http://schemas.microsoft.com/office/drawing/2014/main" id="{7ECCD10C-C388-A0FE-D1C8-674BC0F92E39}"/>
              </a:ext>
            </a:extLst>
          </p:cNvPr>
          <p:cNvSpPr/>
          <p:nvPr/>
        </p:nvSpPr>
        <p:spPr>
          <a:xfrm rot="10800000">
            <a:off x="9638268" y="1396312"/>
            <a:ext cx="968975" cy="825388"/>
          </a:xfrm>
          <a:prstGeom prst="leftBrace">
            <a:avLst/>
          </a:prstGeom>
          <a:ln w="317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110284-3EC0-A943-BE44-BBA81E15C7F7}"/>
              </a:ext>
            </a:extLst>
          </p:cNvPr>
          <p:cNvCxnSpPr>
            <a:cxnSpLocks/>
          </p:cNvCxnSpPr>
          <p:nvPr/>
        </p:nvCxnSpPr>
        <p:spPr>
          <a:xfrm flipH="1">
            <a:off x="5622324" y="1396313"/>
            <a:ext cx="4015946" cy="0"/>
          </a:xfrm>
          <a:prstGeom prst="line">
            <a:avLst/>
          </a:prstGeom>
          <a:ln w="317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CA82AA8-35E6-A5CE-BAD9-9EC7698FC57A}"/>
              </a:ext>
            </a:extLst>
          </p:cNvPr>
          <p:cNvSpPr txBox="1"/>
          <p:nvPr/>
        </p:nvSpPr>
        <p:spPr>
          <a:xfrm>
            <a:off x="10674692" y="1624337"/>
            <a:ext cx="655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~0.1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A01320-325B-E89F-F512-30F6EDB3284F}"/>
              </a:ext>
            </a:extLst>
          </p:cNvPr>
          <p:cNvSpPr txBox="1"/>
          <p:nvPr/>
        </p:nvSpPr>
        <p:spPr>
          <a:xfrm>
            <a:off x="1011355" y="2601782"/>
            <a:ext cx="767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~0.25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B05E03-BBE9-8034-3244-E97E5F118689}"/>
              </a:ext>
            </a:extLst>
          </p:cNvPr>
          <p:cNvSpPr txBox="1"/>
          <p:nvPr/>
        </p:nvSpPr>
        <p:spPr>
          <a:xfrm>
            <a:off x="394996" y="3342502"/>
            <a:ext cx="1383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From 62-38 to 38-62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7BA1C6-3FCA-1C40-B5FB-429046FB4C97}"/>
              </a:ext>
            </a:extLst>
          </p:cNvPr>
          <p:cNvSpPr txBox="1"/>
          <p:nvPr/>
        </p:nvSpPr>
        <p:spPr>
          <a:xfrm>
            <a:off x="10513972" y="2324783"/>
            <a:ext cx="1383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From 65-35 to 55-45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0BA0E91-86BE-51AF-23EE-75ED17C5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D4A38FE-7926-FDFA-7E72-2F37BCFD2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0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2" grpId="0"/>
      <p:bldP spid="16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4F49-99D0-0801-7FED-21537185C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Indifference zone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CA29B-66B1-946D-B48D-95988FDBC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Choices of alternatives to the status quo from $0 to $9 make a large difference in choice probabilities</a:t>
            </a:r>
          </a:p>
          <a:p>
            <a:pPr lvl="1"/>
            <a:r>
              <a:rPr lang="en-US" dirty="0"/>
              <a:t>Roughly .044 change in AMCE per $1</a:t>
            </a:r>
          </a:p>
          <a:p>
            <a:endParaRPr lang="en-US" dirty="0"/>
          </a:p>
          <a:p>
            <a:r>
              <a:rPr lang="en-US" dirty="0"/>
              <a:t>Choices of alternatives from $10 to $30 have about a tenth of the effect</a:t>
            </a:r>
          </a:p>
          <a:p>
            <a:pPr lvl="1"/>
            <a:r>
              <a:rPr lang="en-US" dirty="0"/>
              <a:t>Roughly .005 change in AMCE per $1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75A70-8418-E716-673A-B370C5D1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77E72-F99A-A25E-5525-136A16379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9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27941-C23D-F437-E46E-89C209D59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political implications?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7D9ED-FE7F-1F8E-4E6F-9E4D90E30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Overshooting preferred minimum wage is much less consequential for votes than undershooting</a:t>
            </a:r>
          </a:p>
          <a:p>
            <a:endParaRPr lang="en-US" dirty="0"/>
          </a:p>
          <a:p>
            <a:r>
              <a:rPr lang="en-US" dirty="0"/>
              <a:t>Is $10 a failure of democracy? $30?</a:t>
            </a:r>
          </a:p>
          <a:p>
            <a:endParaRPr lang="en-US" dirty="0"/>
          </a:p>
          <a:p>
            <a:r>
              <a:rPr lang="en-US" dirty="0"/>
              <a:t>Some forms of “incongruence” much more consequential!</a:t>
            </a:r>
          </a:p>
          <a:p>
            <a:endParaRPr lang="en-US" dirty="0"/>
          </a:p>
          <a:p>
            <a:r>
              <a:rPr lang="en-US" dirty="0"/>
              <a:t>Elections in the US are two-stage: what about the primary?</a:t>
            </a:r>
            <a:endParaRPr lang="en-US" i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9CC246-3074-5B5F-08A8-7139FB4A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BE596-EAC8-ECB3-769C-9333B693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0B3F86-99F2-1290-4021-EFB18FB9D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23378"/>
            <a:ext cx="7772400" cy="581124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6FB36A-B036-EB28-F610-589FC878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A09FBE-CE3A-FCC4-DD29-2CF9C159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83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ACB608-1C3F-8D99-5A5A-59DA75428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04428"/>
            <a:ext cx="7772400" cy="41350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9E21CC-AA90-FC46-0322-9FB520AB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Reality check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D5C1A-F1B0-A2D4-07E5-50CE42DA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304CE-5F8D-9F3F-5556-D602E754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2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85F3-17F3-5401-8F11-2A13F755D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accounts for the elasticity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2FC0-4DE1-CCAB-FCF9-1B8170DCA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“Churn” could be politically consequential</a:t>
            </a:r>
          </a:p>
          <a:p>
            <a:endParaRPr lang="en-US" dirty="0"/>
          </a:p>
          <a:p>
            <a:r>
              <a:rPr lang="en-US" dirty="0"/>
              <a:t>High individual elasticities could motivate more intensive forms of participation (e.g. issue publics)</a:t>
            </a:r>
          </a:p>
          <a:p>
            <a:endParaRPr lang="en-US" dirty="0"/>
          </a:p>
          <a:p>
            <a:r>
              <a:rPr lang="en-US" dirty="0"/>
              <a:t>But individual-level is hard to obtain</a:t>
            </a:r>
          </a:p>
          <a:p>
            <a:endParaRPr lang="en-US" dirty="0"/>
          </a:p>
          <a:p>
            <a:r>
              <a:rPr lang="en-US" dirty="0"/>
              <a:t>However, we can look at elasticity by most-preferred minimum wage</a:t>
            </a:r>
          </a:p>
          <a:p>
            <a:pPr lvl="1"/>
            <a:r>
              <a:rPr lang="en-US" dirty="0"/>
              <a:t>Indifference is widespread for large majority favoring increases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65DA7-1E72-73E0-7348-0D9CA1014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C852C5-2FC2-6166-3B3C-BE2B4A03C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7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B1263-4C69-EB92-CD52-E88D9A070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5179"/>
            <a:ext cx="7772400" cy="591413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C2D2F8-9552-8199-CCF0-A0A8514F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95DEF-7E33-CDE4-4234-93D624829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36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83A57-EB7C-4304-D863-F2B281D6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5D3C00-E912-3A76-EBD4-9BDE58C8E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968" y="136525"/>
            <a:ext cx="7284064" cy="603466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55F83-3D82-14D2-255A-2F07C9B95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548B1-09C5-A5B6-D51B-8B8B5AA5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52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B13C0-57C0-4706-DC57-E8C13A361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7E404D-344E-F94A-2123-54A834357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185" y="136525"/>
            <a:ext cx="7369629" cy="610579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BFFC4-A4D5-1291-8FB1-17C2DEF6E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FEF47-9D6E-CC4B-BB38-92E449C3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6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66F6-6539-7E0C-CE0F-CC890AF21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4E77FB-BDD5-39CF-03C0-86600C0F9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590" y="176040"/>
            <a:ext cx="8074819" cy="618031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B3113-4233-13EB-3E50-BE002B0F7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95B79-036E-6D31-0554-43C73AFF8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48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C82D-7CC4-DE41-A593-E13E4DD59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703949-9400-83E5-0E37-98F270098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517" y="270925"/>
            <a:ext cx="7508966" cy="60854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EB156-6A4E-1F79-4C35-64AE2826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325F4-CB5A-D808-5273-5B511CB60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7372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BB6A-8FA4-7819-3F5C-BA8581EA7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0D5DDB-D81B-BAFB-DEB0-A0CE2213F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871" y="260824"/>
            <a:ext cx="7500257" cy="609552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D26E8-9ACB-2772-BAAE-B27B56C4A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F4FDD-066E-2ADB-B47C-B583AD86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50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100018-8964-3C39-FC7F-905AFA988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94" y="457967"/>
            <a:ext cx="10476411" cy="594206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6F84B-1998-6057-328F-7625C553D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1F896-5350-A971-C1FD-C7011EC2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46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5F41-5866-B40F-2362-A92D3091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A0101-5915-5F65-5104-1B772365C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public is close-to-indifferent over a wide range of values of the minimum wage</a:t>
            </a:r>
          </a:p>
          <a:p>
            <a:endParaRPr lang="en-US" dirty="0"/>
          </a:p>
          <a:p>
            <a:r>
              <a:rPr lang="en-US" dirty="0"/>
              <a:t>A priori, we should not expect politicians to lose substantial vote share from deviating from the most preferred minimum wage ($15)</a:t>
            </a:r>
          </a:p>
          <a:p>
            <a:endParaRPr lang="en-US" dirty="0"/>
          </a:p>
          <a:p>
            <a:r>
              <a:rPr lang="en-US" dirty="0"/>
              <a:t>With the exception that the public has an intense preference for higher-than-federal minimum wages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E63E7-1F6F-016D-0B52-9167AC4BB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C7640F-137B-F13B-EB63-5493874F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5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A02C0-AA2C-5481-4E66-BAB4076DC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1967-0449-9DBA-880B-7F8DE0A2E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Almost all policies exist in a continuum of policy options</a:t>
            </a:r>
          </a:p>
          <a:p>
            <a:endParaRPr lang="en-US" dirty="0"/>
          </a:p>
          <a:p>
            <a:r>
              <a:rPr lang="en-US" dirty="0"/>
              <a:t>Our expectations about representation depend on our theory of accountability</a:t>
            </a:r>
          </a:p>
          <a:p>
            <a:endParaRPr lang="en-US" dirty="0"/>
          </a:p>
          <a:p>
            <a:r>
              <a:rPr lang="en-US" dirty="0"/>
              <a:t>If candidates are policy motivated and voting is probabilistic, then the elasticity of choice of the public over a continuum of options is fundamental in shaping electoral incentives</a:t>
            </a:r>
          </a:p>
          <a:p>
            <a:endParaRPr lang="en-US" dirty="0"/>
          </a:p>
          <a:p>
            <a:r>
              <a:rPr lang="en-US" dirty="0"/>
              <a:t>Ambivalence does not explain </a:t>
            </a:r>
            <a:r>
              <a:rPr lang="en-US" i="1" dirty="0"/>
              <a:t>all</a:t>
            </a:r>
            <a:r>
              <a:rPr lang="en-US" dirty="0"/>
              <a:t> gaps in representation – more research needed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904F5E-D0E9-56DD-B10F-167ABC83B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C9A2C-FC9D-AABF-034F-D7B4B9F69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71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37A7-8789-87EA-DFAB-C038AA18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52795"/>
          </a:xfrm>
        </p:spPr>
        <p:txBody>
          <a:bodyPr/>
          <a:lstStyle/>
          <a:p>
            <a:pPr algn="ctr"/>
            <a:r>
              <a:rPr lang="en-US" dirty="0"/>
              <a:t>Extra Slides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BFEE91-3901-A66D-7B9A-D610374F8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C7222-6415-28D6-AB7A-1E8C1B3C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4548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501AC8-DFCA-2827-70E5-1C4C859F8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613" y="136525"/>
            <a:ext cx="5778773" cy="607057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DE6A-E6B1-34AD-F459-B9F526D3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AEAD1-0D23-33B9-2875-20DFC630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62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DE65D-74D4-CACD-49C8-8C00E4335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Congruence depends on item selection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483850-AD06-30A4-7474-2D09300DB712}"/>
              </a:ext>
            </a:extLst>
          </p:cNvPr>
          <p:cNvCxnSpPr/>
          <p:nvPr/>
        </p:nvCxnSpPr>
        <p:spPr>
          <a:xfrm>
            <a:off x="1668162" y="3558746"/>
            <a:ext cx="8427308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899437-53B1-2FDD-5CEA-8B2A1B6A762E}"/>
              </a:ext>
            </a:extLst>
          </p:cNvPr>
          <p:cNvCxnSpPr>
            <a:cxnSpLocks/>
          </p:cNvCxnSpPr>
          <p:nvPr/>
        </p:nvCxnSpPr>
        <p:spPr>
          <a:xfrm>
            <a:off x="6339016" y="3175686"/>
            <a:ext cx="0" cy="864973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3D324BA-8F07-5AEA-1365-45EE095CE2A6}"/>
              </a:ext>
            </a:extLst>
          </p:cNvPr>
          <p:cNvSpPr txBox="1"/>
          <p:nvPr/>
        </p:nvSpPr>
        <p:spPr>
          <a:xfrm>
            <a:off x="5955957" y="4250725"/>
            <a:ext cx="766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Voter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4E37A0-7793-0649-3ABF-2F6CA7E134AF}"/>
              </a:ext>
            </a:extLst>
          </p:cNvPr>
          <p:cNvCxnSpPr>
            <a:cxnSpLocks/>
          </p:cNvCxnSpPr>
          <p:nvPr/>
        </p:nvCxnSpPr>
        <p:spPr>
          <a:xfrm>
            <a:off x="4157519" y="3175686"/>
            <a:ext cx="0" cy="864973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B5309E4-498F-206F-26A7-D85DFA0639A7}"/>
              </a:ext>
            </a:extLst>
          </p:cNvPr>
          <p:cNvSpPr txBox="1"/>
          <p:nvPr/>
        </p:nvSpPr>
        <p:spPr>
          <a:xfrm>
            <a:off x="3765750" y="4250725"/>
            <a:ext cx="823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Policy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991D41-1010-B5C5-B748-1217C7331F45}"/>
              </a:ext>
            </a:extLst>
          </p:cNvPr>
          <p:cNvCxnSpPr>
            <a:cxnSpLocks/>
          </p:cNvCxnSpPr>
          <p:nvPr/>
        </p:nvCxnSpPr>
        <p:spPr>
          <a:xfrm>
            <a:off x="4923872" y="3175686"/>
            <a:ext cx="0" cy="864973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2A736D-BA5E-F545-53B1-E31B7E455505}"/>
              </a:ext>
            </a:extLst>
          </p:cNvPr>
          <p:cNvCxnSpPr>
            <a:cxnSpLocks/>
          </p:cNvCxnSpPr>
          <p:nvPr/>
        </p:nvCxnSpPr>
        <p:spPr>
          <a:xfrm>
            <a:off x="5389781" y="3175686"/>
            <a:ext cx="0" cy="864973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841A36-8020-01E5-E79B-248B2580B907}"/>
              </a:ext>
            </a:extLst>
          </p:cNvPr>
          <p:cNvCxnSpPr>
            <a:cxnSpLocks/>
          </p:cNvCxnSpPr>
          <p:nvPr/>
        </p:nvCxnSpPr>
        <p:spPr>
          <a:xfrm>
            <a:off x="5651038" y="3175686"/>
            <a:ext cx="0" cy="864973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D4E2B0-D263-D8C9-EB84-AD60CCC8DED8}"/>
              </a:ext>
            </a:extLst>
          </p:cNvPr>
          <p:cNvCxnSpPr>
            <a:cxnSpLocks/>
          </p:cNvCxnSpPr>
          <p:nvPr/>
        </p:nvCxnSpPr>
        <p:spPr>
          <a:xfrm>
            <a:off x="7000866" y="3175686"/>
            <a:ext cx="0" cy="86497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584A27-52D2-7054-BF73-418A347BF619}"/>
              </a:ext>
            </a:extLst>
          </p:cNvPr>
          <p:cNvCxnSpPr>
            <a:cxnSpLocks/>
          </p:cNvCxnSpPr>
          <p:nvPr/>
        </p:nvCxnSpPr>
        <p:spPr>
          <a:xfrm>
            <a:off x="8093791" y="3175686"/>
            <a:ext cx="0" cy="86497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14EE37-AE31-FB85-53D3-09E287F0B5CE}"/>
              </a:ext>
            </a:extLst>
          </p:cNvPr>
          <p:cNvCxnSpPr>
            <a:cxnSpLocks/>
          </p:cNvCxnSpPr>
          <p:nvPr/>
        </p:nvCxnSpPr>
        <p:spPr>
          <a:xfrm>
            <a:off x="7214226" y="3175686"/>
            <a:ext cx="0" cy="86497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295726-CEC2-1A91-92E3-F5467C5FC9F7}"/>
              </a:ext>
            </a:extLst>
          </p:cNvPr>
          <p:cNvCxnSpPr>
            <a:cxnSpLocks/>
          </p:cNvCxnSpPr>
          <p:nvPr/>
        </p:nvCxnSpPr>
        <p:spPr>
          <a:xfrm>
            <a:off x="3399872" y="3175686"/>
            <a:ext cx="0" cy="86497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5FB75C-CA6F-B831-8EAA-CE5BCB365566}"/>
              </a:ext>
            </a:extLst>
          </p:cNvPr>
          <p:cNvCxnSpPr>
            <a:cxnSpLocks/>
          </p:cNvCxnSpPr>
          <p:nvPr/>
        </p:nvCxnSpPr>
        <p:spPr>
          <a:xfrm>
            <a:off x="2772854" y="3175686"/>
            <a:ext cx="0" cy="86497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EEFF69-103A-8D0D-FAEE-098E239B9BD9}"/>
              </a:ext>
            </a:extLst>
          </p:cNvPr>
          <p:cNvCxnSpPr>
            <a:cxnSpLocks/>
          </p:cNvCxnSpPr>
          <p:nvPr/>
        </p:nvCxnSpPr>
        <p:spPr>
          <a:xfrm>
            <a:off x="2276466" y="3175686"/>
            <a:ext cx="0" cy="864973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FE6BE79-FBCA-9EF4-B7A8-A499A96B388F}"/>
              </a:ext>
            </a:extLst>
          </p:cNvPr>
          <p:cNvSpPr txBox="1"/>
          <p:nvPr/>
        </p:nvSpPr>
        <p:spPr>
          <a:xfrm>
            <a:off x="4632548" y="4593932"/>
            <a:ext cx="1514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Incongruent cutlines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E9B1F9-F895-2604-FEF1-D1D6532B5690}"/>
              </a:ext>
            </a:extLst>
          </p:cNvPr>
          <p:cNvSpPr txBox="1"/>
          <p:nvPr/>
        </p:nvSpPr>
        <p:spPr>
          <a:xfrm>
            <a:off x="6974034" y="4593932"/>
            <a:ext cx="1514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Congruent cutlines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636CBD-0321-BDB2-9689-6461D4951F07}"/>
              </a:ext>
            </a:extLst>
          </p:cNvPr>
          <p:cNvSpPr txBox="1"/>
          <p:nvPr/>
        </p:nvSpPr>
        <p:spPr>
          <a:xfrm>
            <a:off x="1947340" y="4593931"/>
            <a:ext cx="1514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Congruent cutlines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DCD68088-BEAF-5854-6EEA-E3A29ACC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00BBBDA-F34B-DEDB-0EF5-70D9FED1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3919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BA27-7368-118E-4C1C-37FE2EBBE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0235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wording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7B94A-9F8A-2906-5F0A-4A782BB3E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2814"/>
            <a:ext cx="10515600" cy="4351338"/>
          </a:xfrm>
        </p:spPr>
        <p:txBody>
          <a:bodyPr/>
          <a:lstStyle/>
          <a:p>
            <a:r>
              <a:rPr lang="en-US" dirty="0"/>
              <a:t>National: “In your view, what should be the federal minimum hourly wage?”</a:t>
            </a:r>
          </a:p>
          <a:p>
            <a:r>
              <a:rPr lang="en-US" dirty="0"/>
              <a:t>Local: “In your view, what should be the minimum hourly wage in the town or city you currently live in, in dollars per hour?”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A8E8F3-31B7-B94B-9E37-7638F9536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AA289-70B6-30C9-6F00-F8AB91BB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F26CD-EE22-7693-CDBD-1A188EFC1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563" y="3053624"/>
            <a:ext cx="5688874" cy="29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683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6786-B65F-39FC-5825-FD6AC07A0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0622"/>
            <a:ext cx="10515600" cy="1325563"/>
          </a:xfrm>
        </p:spPr>
        <p:txBody>
          <a:bodyPr/>
          <a:lstStyle/>
          <a:p>
            <a:r>
              <a:rPr lang="en-US" dirty="0"/>
              <a:t>Binned Approach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B26F27-A7D3-9824-1D5B-355C18A75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3E02C-6F64-2610-4387-CCD4AF55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DC0CD8-3200-0BDD-4AC8-5EA4FFA23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434" y="1587223"/>
            <a:ext cx="6289766" cy="481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34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B33A7A-63DD-AEC1-2E09-C66C24E07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9E26E-5CF0-5EE3-B57C-471940257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5275E9-4FBB-E798-4719-C14ACEA37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20224"/>
            <a:ext cx="7772400" cy="541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52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168910-7BA0-7E66-DC8A-46807A02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C46C6B-C466-9EC2-BAC7-A5FA19FE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A72382-EB2E-D79A-E97E-2920EE889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11622"/>
            <a:ext cx="7772400" cy="5234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768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847F60-B501-74D0-8739-0075EA314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8937"/>
            <a:ext cx="7772400" cy="624012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479D45-E5A3-E900-4D26-8BF13247A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Representation on Continuous Policies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2713A1-75AC-1E74-E7C1-FDDFD00C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6362-C068-F943-B293-CB510253934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2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1424</TotalTime>
  <Words>1059</Words>
  <Application>Microsoft Macintosh PowerPoint</Application>
  <PresentationFormat>Widescreen</PresentationFormat>
  <Paragraphs>206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Aptos Display</vt:lpstr>
      <vt:lpstr>Arial</vt:lpstr>
      <vt:lpstr>Office Theme</vt:lpstr>
      <vt:lpstr>Representation on Continuous Policies</vt:lpstr>
      <vt:lpstr>PowerPoint Presentation</vt:lpstr>
      <vt:lpstr>Policy incongruence is pervasive</vt:lpstr>
      <vt:lpstr>Measured congruence = almost always binary</vt:lpstr>
      <vt:lpstr>But policy is continuous</vt:lpstr>
      <vt:lpstr>Congruence in continuous space is never perfect</vt:lpstr>
      <vt:lpstr>PowerPoint Presentation</vt:lpstr>
      <vt:lpstr>City-level minimum wages (100 largest cities)</vt:lpstr>
      <vt:lpstr>How much incongruence should we expect?</vt:lpstr>
      <vt:lpstr>Measuring the elasticity of choice</vt:lpstr>
      <vt:lpstr>Experiment For Measuring Elasticity</vt:lpstr>
      <vt:lpstr>PowerPoint Presentation</vt:lpstr>
      <vt:lpstr>PowerPoint Presentation</vt:lpstr>
      <vt:lpstr>The Average Marginal Component Effect</vt:lpstr>
      <vt:lpstr>PowerPoint Presentation</vt:lpstr>
      <vt:lpstr>PowerPoint Presentation</vt:lpstr>
      <vt:lpstr>Indifference zone</vt:lpstr>
      <vt:lpstr>What are the political implications?</vt:lpstr>
      <vt:lpstr>PowerPoint Presentation</vt:lpstr>
      <vt:lpstr>Reality check</vt:lpstr>
      <vt:lpstr>Who accounts for the elasticity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Summary: Findings</vt:lpstr>
      <vt:lpstr>Takeaways</vt:lpstr>
      <vt:lpstr>Extra Slides</vt:lpstr>
      <vt:lpstr>PowerPoint Presentation</vt:lpstr>
      <vt:lpstr>Congruence depends on item selection</vt:lpstr>
      <vt:lpstr>Question wording</vt:lpstr>
      <vt:lpstr>Binned Approach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Representation on Continuous Policies</dc:title>
  <dc:creator>Chris Tausanovitch</dc:creator>
  <cp:lastModifiedBy>Chris Tausanovitch</cp:lastModifiedBy>
  <cp:revision>19</cp:revision>
  <dcterms:created xsi:type="dcterms:W3CDTF">2026-06-03T19:11:30Z</dcterms:created>
  <dcterms:modified xsi:type="dcterms:W3CDTF">2026-06-08T16:20:07Z</dcterms:modified>
</cp:coreProperties>
</file>